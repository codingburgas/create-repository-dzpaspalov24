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0"/>
          </a:xfrm>
          <a:prstGeom prst="line">
            <a:avLst/>
          </a:prstGeom>
          <a:noFill/>
          <a:ln w="12700">
            <a:solidFill>
              <a:srgbClr val="C69C4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12700">
            <a:solidFill>
              <a:srgbClr val="C69C4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640080"/>
            <a:ext cx="1005840" cy="1005840"/>
          </a:xfrm>
          <a:prstGeom prst="rect">
            <a:avLst/>
          </a:prstGeom>
          <a:solidFill>
            <a:srgbClr val="0B2447"/>
          </a:solidFill>
          <a:ln w="19050">
            <a:solidFill>
              <a:srgbClr val="C69C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0" y="71323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69C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FC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589520" y="11887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F4EF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2026 ·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5943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69C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FUTURECODE TECHNOLOGY UNIVERSITY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i="1" dirty="0">
                <a:solidFill>
                  <a:srgbClr val="F4EF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i="1" dirty="0">
                <a:solidFill>
                  <a:srgbClr val="C69C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Information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457200" y="2971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i="1" dirty="0">
                <a:solidFill>
                  <a:srgbClr val="C69C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System.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457200" y="384048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4EF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native desktop portal for the modern university student. Bilingual.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06908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4EF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in C++17 and raylib. Drawn entirely from vector primitives.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3891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PRESENTED BY</a:t>
            </a:r>
            <a:pPr indent="0" marL="0">
              <a:buNone/>
            </a:pPr>
            <a:r>
              <a:rPr lang="en-US" sz="900" spc="200" kern="0" dirty="0">
                <a:solidFill>
                  <a:srgbClr val="C69C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</a:t>
            </a:r>
            <a:pPr indent="0" marL="0">
              <a:buNone/>
            </a:pPr>
            <a:r>
              <a:rPr lang="en-US" sz="900" b="1" spc="200" kern="0" dirty="0">
                <a:solidFill>
                  <a:srgbClr val="F4EF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YANKO YANAKIEV</a:t>
            </a:r>
            <a:pPr indent="0" marL="0">
              <a:buNone/>
            </a:pPr>
            <a:r>
              <a:rPr lang="en-US" sz="900" spc="200" kern="0" dirty="0">
                <a:solidFill>
                  <a:srgbClr val="C69C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&amp;  </a:t>
            </a:r>
            <a:pPr indent="0" marL="0">
              <a:buNone/>
            </a:pPr>
            <a:r>
              <a:rPr lang="en-US" sz="900" b="1" spc="200" kern="0" dirty="0">
                <a:solidFill>
                  <a:srgbClr val="F4EF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DENIS PASPALOV</a:t>
            </a:r>
            <a:pPr indent="0" marL="0">
              <a:buNone/>
            </a:pPr>
            <a:r>
              <a:rPr lang="en-US" sz="900" spc="200" kern="0" dirty="0">
                <a:solidFill>
                  <a:srgbClr val="8A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CLASS 9V  ·  </a:t>
            </a:r>
            <a:pPr indent="0" marL="0">
              <a:buNone/>
            </a:pPr>
            <a:r>
              <a:rPr lang="en-US" sz="900" b="1" spc="200" kern="0" dirty="0">
                <a:solidFill>
                  <a:srgbClr val="C69C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HACKRIZEN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0" cy="0"/>
          </a:xfrm>
          <a:prstGeom prst="line">
            <a:avLst/>
          </a:prstGeom>
          <a:noFill/>
          <a:ln w="9525">
            <a:solidFill>
              <a:srgbClr val="D9CFB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201168" cy="201168"/>
          </a:xfrm>
          <a:prstGeom prst="rect">
            <a:avLst/>
          </a:prstGeom>
          <a:solidFill>
            <a:srgbClr val="13386E"/>
          </a:solidFill>
          <a:ln w="12700">
            <a:solidFill>
              <a:srgbClr val="1338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69C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FC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" y="1828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47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FutureCode  ·  Student Information System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0" y="1828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8E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9525">
            <a:solidFill>
              <a:srgbClr val="D9CFB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0" y="48920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A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48920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Hackrizen Hackathon · 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7315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8E1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i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builders. One sprint.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57200" y="17830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0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ninth-graders, five weeks, full ownership of every layer of the stack.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240280"/>
            <a:ext cx="4069080" cy="2103120"/>
          </a:xfrm>
          <a:prstGeom prst="rect">
            <a:avLst/>
          </a:prstGeom>
          <a:solidFill>
            <a:srgbClr val="FBF7EE"/>
          </a:solidFill>
          <a:ln w="9525">
            <a:solidFill>
              <a:srgbClr val="D9CFB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2514600"/>
            <a:ext cx="1005840" cy="1005840"/>
          </a:xfrm>
          <a:prstGeom prst="ellipse">
            <a:avLst/>
          </a:prstGeom>
          <a:solidFill>
            <a:srgbClr val="13386E"/>
          </a:solidFill>
          <a:ln w="12700">
            <a:solidFill>
              <a:srgbClr val="1338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5146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BF7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ЯЯ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874520" y="25146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Yanko Yanakiev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1874520" y="2990088"/>
            <a:ext cx="502920" cy="201168"/>
          </a:xfrm>
          <a:prstGeom prst="roundRect">
            <a:avLst>
              <a:gd name="adj" fmla="val 18182"/>
            </a:avLst>
          </a:prstGeom>
          <a:solidFill>
            <a:srgbClr val="E1E7F1"/>
          </a:solidFill>
          <a:ln w="6350">
            <a:solidFill>
              <a:srgbClr val="1338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74520" y="2990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1338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9V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468880" y="29718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Developer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874520" y="329184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0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Architecture, data layer, UI library, screen routing, schedule editor, i18n. Wrote the README and presentation.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17720" y="2240280"/>
            <a:ext cx="4069080" cy="2103120"/>
          </a:xfrm>
          <a:prstGeom prst="rect">
            <a:avLst/>
          </a:prstGeom>
          <a:solidFill>
            <a:srgbClr val="FBF7EE"/>
          </a:solidFill>
          <a:ln w="9525">
            <a:solidFill>
              <a:srgbClr val="D9CFB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2514600"/>
            <a:ext cx="1005840" cy="1005840"/>
          </a:xfrm>
          <a:prstGeom prst="ellipse">
            <a:avLst/>
          </a:prstGeom>
          <a:solidFill>
            <a:srgbClr val="8E1F2D"/>
          </a:solidFill>
          <a:ln w="12700">
            <a:solidFill>
              <a:srgbClr val="8E1F2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5146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BF7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ДП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6035040" y="25146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Denis Paspalov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6035040" y="2990088"/>
            <a:ext cx="502920" cy="201168"/>
          </a:xfrm>
          <a:prstGeom prst="roundRect">
            <a:avLst>
              <a:gd name="adj" fmla="val 18182"/>
            </a:avLst>
          </a:prstGeom>
          <a:solidFill>
            <a:srgbClr val="E1E7F1"/>
          </a:solidFill>
          <a:ln w="6350">
            <a:solidFill>
              <a:srgbClr val="1338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35040" y="2990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1338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9V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629400" y="29718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035040" y="329184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0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 screens, profile tab, statistics screen, theme system, dark mode, transcript export, QA pass.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0" cy="0"/>
          </a:xfrm>
          <a:prstGeom prst="line">
            <a:avLst/>
          </a:prstGeom>
          <a:noFill/>
          <a:ln w="9525">
            <a:solidFill>
              <a:srgbClr val="D9CFB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201168" cy="201168"/>
          </a:xfrm>
          <a:prstGeom prst="rect">
            <a:avLst/>
          </a:prstGeom>
          <a:solidFill>
            <a:srgbClr val="13386E"/>
          </a:solidFill>
          <a:ln w="12700">
            <a:solidFill>
              <a:srgbClr val="1338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69C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FC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" y="1828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47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FutureCode  ·  Student Information System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0" y="1828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8E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9525">
            <a:solidFill>
              <a:srgbClr val="D9CFB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0" y="48920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A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48920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Hackrizen Hackathon · 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7315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8E1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portal that students actually want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57200" y="1737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open every morning.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0" cy="1554480"/>
          </a:xfrm>
          <a:prstGeom prst="line">
            <a:avLst/>
          </a:prstGeom>
          <a:noFill/>
          <a:ln w="25400">
            <a:solidFill>
              <a:srgbClr val="8E1F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606040"/>
            <a:ext cx="4023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university portals are slow, ugly and unloved. FutureCode is what happens when two ninth-graders sit down and ask: what if it weren't?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937760" y="2286000"/>
            <a:ext cx="3749040" cy="2194560"/>
          </a:xfrm>
          <a:prstGeom prst="rect">
            <a:avLst/>
          </a:prstGeom>
          <a:solidFill>
            <a:srgbClr val="FBF7EE"/>
          </a:solidFill>
          <a:ln w="9525">
            <a:solidFill>
              <a:srgbClr val="D9CFB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4920" y="239572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69C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SIX TABS · ONE WINDOW · 60 FPS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074920" y="2697480"/>
            <a:ext cx="54864" cy="640080"/>
          </a:xfrm>
          <a:prstGeom prst="rect">
            <a:avLst/>
          </a:prstGeom>
          <a:solidFill>
            <a:srgbClr val="13386E"/>
          </a:solidFill>
          <a:ln w="12700">
            <a:solidFill>
              <a:srgbClr val="13386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29784" y="2697480"/>
            <a:ext cx="1078992" cy="640080"/>
          </a:xfrm>
          <a:prstGeom prst="rect">
            <a:avLst/>
          </a:prstGeom>
          <a:solidFill>
            <a:srgbClr val="F4EFE5"/>
          </a:solidFill>
          <a:ln w="6350">
            <a:solidFill>
              <a:srgbClr val="D9CFB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66360" y="27432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66360" y="30175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8A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view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6263640" y="2697480"/>
            <a:ext cx="54864" cy="640080"/>
          </a:xfrm>
          <a:prstGeom prst="rect">
            <a:avLst/>
          </a:prstGeom>
          <a:solidFill>
            <a:srgbClr val="5C7B5E"/>
          </a:solidFill>
          <a:ln w="12700">
            <a:solidFill>
              <a:srgbClr val="5C7B5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18504" y="2697480"/>
            <a:ext cx="1078992" cy="640080"/>
          </a:xfrm>
          <a:prstGeom prst="rect">
            <a:avLst/>
          </a:prstGeom>
          <a:solidFill>
            <a:srgbClr val="F4EFE5"/>
          </a:solidFill>
          <a:ln w="6350">
            <a:solidFill>
              <a:srgbClr val="D9CFB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27432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55080" y="30175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8A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view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7452360" y="2697480"/>
            <a:ext cx="54864" cy="640080"/>
          </a:xfrm>
          <a:prstGeom prst="rect">
            <a:avLst/>
          </a:prstGeom>
          <a:solidFill>
            <a:srgbClr val="8E1F2D"/>
          </a:solidFill>
          <a:ln w="12700">
            <a:solidFill>
              <a:srgbClr val="8E1F2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07224" y="2697480"/>
            <a:ext cx="1078992" cy="640080"/>
          </a:xfrm>
          <a:prstGeom prst="rect">
            <a:avLst/>
          </a:prstGeom>
          <a:solidFill>
            <a:srgbClr val="F4EFE5"/>
          </a:solidFill>
          <a:ln w="6350">
            <a:solidFill>
              <a:srgbClr val="D9CFB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43800" y="27432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543800" y="30175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8A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view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5074920" y="3520440"/>
            <a:ext cx="54864" cy="640080"/>
          </a:xfrm>
          <a:prstGeom prst="rect">
            <a:avLst/>
          </a:prstGeom>
          <a:solidFill>
            <a:srgbClr val="B65E2E"/>
          </a:solidFill>
          <a:ln w="12700">
            <a:solidFill>
              <a:srgbClr val="B65E2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129784" y="3520440"/>
            <a:ext cx="1078992" cy="640080"/>
          </a:xfrm>
          <a:prstGeom prst="rect">
            <a:avLst/>
          </a:prstGeom>
          <a:solidFill>
            <a:srgbClr val="F4EFE5"/>
          </a:solidFill>
          <a:ln w="6350">
            <a:solidFill>
              <a:srgbClr val="D9CFB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66360" y="35661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166360" y="384048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8A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view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6263640" y="3520440"/>
            <a:ext cx="54864" cy="640080"/>
          </a:xfrm>
          <a:prstGeom prst="rect">
            <a:avLst/>
          </a:prstGeom>
          <a:solidFill>
            <a:srgbClr val="13386E"/>
          </a:solidFill>
          <a:ln w="12700">
            <a:solidFill>
              <a:srgbClr val="13386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18504" y="3520440"/>
            <a:ext cx="1078992" cy="640080"/>
          </a:xfrm>
          <a:prstGeom prst="rect">
            <a:avLst/>
          </a:prstGeom>
          <a:solidFill>
            <a:srgbClr val="F4EFE5"/>
          </a:solidFill>
          <a:ln w="6350">
            <a:solidFill>
              <a:srgbClr val="D9CFB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55080" y="35661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355080" y="384048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8A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view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7452360" y="3520440"/>
            <a:ext cx="54864" cy="640080"/>
          </a:xfrm>
          <a:prstGeom prst="rect">
            <a:avLst/>
          </a:prstGeom>
          <a:solidFill>
            <a:srgbClr val="C69C49"/>
          </a:solidFill>
          <a:ln w="12700">
            <a:solidFill>
              <a:srgbClr val="C69C4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507224" y="3520440"/>
            <a:ext cx="1078992" cy="640080"/>
          </a:xfrm>
          <a:prstGeom prst="rect">
            <a:avLst/>
          </a:prstGeom>
          <a:solidFill>
            <a:srgbClr val="F4EFE5"/>
          </a:solidFill>
          <a:ln w="6350">
            <a:solidFill>
              <a:srgbClr val="D9CFB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43800" y="35661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543800" y="384048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8A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view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0" cy="0"/>
          </a:xfrm>
          <a:prstGeom prst="line">
            <a:avLst/>
          </a:prstGeom>
          <a:noFill/>
          <a:ln w="9525">
            <a:solidFill>
              <a:srgbClr val="D9CFB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201168" cy="201168"/>
          </a:xfrm>
          <a:prstGeom prst="rect">
            <a:avLst/>
          </a:prstGeom>
          <a:solidFill>
            <a:srgbClr val="13386E"/>
          </a:solidFill>
          <a:ln w="12700">
            <a:solidFill>
              <a:srgbClr val="1338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69C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FC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" y="1828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47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FutureCode  ·  Student Information System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0" y="1828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8E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9525">
            <a:solidFill>
              <a:srgbClr val="D9CFB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0" y="48920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A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48920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Hackrizen Hackathon · 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7315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8E1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weeks. Five sprints.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57200" y="1783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0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sprint completed one architectural slice — data, then auth, then the dashboard, then polish, then the demo.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2788920"/>
            <a:ext cx="8138160" cy="0"/>
          </a:xfrm>
          <a:prstGeom prst="line">
            <a:avLst/>
          </a:prstGeom>
          <a:noFill/>
          <a:ln w="12700">
            <a:solidFill>
              <a:srgbClr val="D9CFB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16736" y="2743200"/>
            <a:ext cx="0" cy="91440"/>
          </a:xfrm>
          <a:prstGeom prst="line">
            <a:avLst/>
          </a:prstGeom>
          <a:noFill/>
          <a:ln w="9525">
            <a:solidFill>
              <a:srgbClr val="8A93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" y="28620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8A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Apr 17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944368" y="2743200"/>
            <a:ext cx="0" cy="91440"/>
          </a:xfrm>
          <a:prstGeom prst="line">
            <a:avLst/>
          </a:prstGeom>
          <a:noFill/>
          <a:ln w="9525">
            <a:solidFill>
              <a:srgbClr val="8A93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87168" y="28620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8A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Apr 24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572000" y="2743200"/>
            <a:ext cx="0" cy="91440"/>
          </a:xfrm>
          <a:prstGeom prst="line">
            <a:avLst/>
          </a:prstGeom>
          <a:noFill/>
          <a:ln w="9525">
            <a:solidFill>
              <a:srgbClr val="8A93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0" y="28620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8A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May 01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199632" y="2743200"/>
            <a:ext cx="0" cy="91440"/>
          </a:xfrm>
          <a:prstGeom prst="line">
            <a:avLst/>
          </a:prstGeom>
          <a:noFill/>
          <a:ln w="9525">
            <a:solidFill>
              <a:srgbClr val="8A93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42432" y="28620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8A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May 08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827264" y="2743200"/>
            <a:ext cx="0" cy="91440"/>
          </a:xfrm>
          <a:prstGeom prst="line">
            <a:avLst/>
          </a:prstGeom>
          <a:noFill/>
          <a:ln w="9525">
            <a:solidFill>
              <a:srgbClr val="8A93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70064" y="28620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8A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May 15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02920" y="3017520"/>
            <a:ext cx="1572768" cy="1691640"/>
          </a:xfrm>
          <a:prstGeom prst="rect">
            <a:avLst/>
          </a:prstGeom>
          <a:solidFill>
            <a:srgbClr val="FBF7EE"/>
          </a:solidFill>
          <a:ln w="9525">
            <a:solidFill>
              <a:srgbClr val="D9CFB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3017520"/>
            <a:ext cx="1572768" cy="91440"/>
          </a:xfrm>
          <a:prstGeom prst="rect">
            <a:avLst/>
          </a:prstGeom>
          <a:solidFill>
            <a:srgbClr val="13386E"/>
          </a:solidFill>
          <a:ln w="12700">
            <a:solidFill>
              <a:srgbClr val="1338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3154680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i="1" dirty="0">
                <a:solidFill>
                  <a:srgbClr val="1338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612648" y="32186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8A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SPRINT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612648" y="3694176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475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APR 17 – APR 23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12648" y="3913632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12648" y="4315968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skeleton, raylib window, theme palette, Cyrillic font loader.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167128" y="3017520"/>
            <a:ext cx="1572768" cy="1691640"/>
          </a:xfrm>
          <a:prstGeom prst="rect">
            <a:avLst/>
          </a:prstGeom>
          <a:solidFill>
            <a:srgbClr val="FBF7EE"/>
          </a:solidFill>
          <a:ln w="9525">
            <a:solidFill>
              <a:srgbClr val="D9CFB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167128" y="3017520"/>
            <a:ext cx="1572768" cy="91440"/>
          </a:xfrm>
          <a:prstGeom prst="rect">
            <a:avLst/>
          </a:prstGeom>
          <a:solidFill>
            <a:srgbClr val="5C7B5E"/>
          </a:solidFill>
          <a:ln w="12700">
            <a:solidFill>
              <a:srgbClr val="5C7B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58568" y="3154680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i="1" dirty="0">
                <a:solidFill>
                  <a:srgbClr val="5C7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600" dirty="0"/>
          </a:p>
        </p:txBody>
      </p:sp>
      <p:sp>
        <p:nvSpPr>
          <p:cNvPr id="34" name="Text 32"/>
          <p:cNvSpPr/>
          <p:nvPr/>
        </p:nvSpPr>
        <p:spPr>
          <a:xfrm>
            <a:off x="2276856" y="32186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8A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SPRINT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276856" y="3694176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475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APR 24 – APR 30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276856" y="3913632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&amp; auth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2276856" y="4315968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Models, file-based persistence, login screen, faculty-number sign-in.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831336" y="3017520"/>
            <a:ext cx="1572768" cy="1691640"/>
          </a:xfrm>
          <a:prstGeom prst="rect">
            <a:avLst/>
          </a:prstGeom>
          <a:solidFill>
            <a:srgbClr val="FBF7EE"/>
          </a:solidFill>
          <a:ln w="9525">
            <a:solidFill>
              <a:srgbClr val="D9CFB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831336" y="3017520"/>
            <a:ext cx="1572768" cy="91440"/>
          </a:xfrm>
          <a:prstGeom prst="rect">
            <a:avLst/>
          </a:prstGeom>
          <a:solidFill>
            <a:srgbClr val="8E1F2D"/>
          </a:solidFill>
          <a:ln w="12700">
            <a:solidFill>
              <a:srgbClr val="8E1F2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922776" y="3154680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i="1" dirty="0">
                <a:solidFill>
                  <a:srgbClr val="8E1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600" dirty="0"/>
          </a:p>
        </p:txBody>
      </p:sp>
      <p:sp>
        <p:nvSpPr>
          <p:cNvPr id="41" name="Text 39"/>
          <p:cNvSpPr/>
          <p:nvPr/>
        </p:nvSpPr>
        <p:spPr>
          <a:xfrm>
            <a:off x="3941064" y="32186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8A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SPRINT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3941064" y="3694176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475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MAY 01 – MAY 07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941064" y="3913632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tabs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3941064" y="4315968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Grades, curriculum, schedule, exams, documents, profile — full dashboard.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95544" y="3017520"/>
            <a:ext cx="1572768" cy="1691640"/>
          </a:xfrm>
          <a:prstGeom prst="rect">
            <a:avLst/>
          </a:prstGeom>
          <a:solidFill>
            <a:srgbClr val="FBF7EE"/>
          </a:solidFill>
          <a:ln w="9525">
            <a:solidFill>
              <a:srgbClr val="D9CFB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495544" y="3017520"/>
            <a:ext cx="1572768" cy="91440"/>
          </a:xfrm>
          <a:prstGeom prst="rect">
            <a:avLst/>
          </a:prstGeom>
          <a:solidFill>
            <a:srgbClr val="B65E2E"/>
          </a:solidFill>
          <a:ln w="12700">
            <a:solidFill>
              <a:srgbClr val="B65E2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86984" y="3154680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i="1" dirty="0">
                <a:solidFill>
                  <a:srgbClr val="B65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600" dirty="0"/>
          </a:p>
        </p:txBody>
      </p:sp>
      <p:sp>
        <p:nvSpPr>
          <p:cNvPr id="48" name="Text 46"/>
          <p:cNvSpPr/>
          <p:nvPr/>
        </p:nvSpPr>
        <p:spPr>
          <a:xfrm>
            <a:off x="5605272" y="32186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8A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SPRINT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5605272" y="3694176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475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MAY 08 – MAY 14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605272" y="3913632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Polish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5605272" y="4315968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icons, sparklines, BG/EN i18n, dark theme, admin schedule modal.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159752" y="3017520"/>
            <a:ext cx="1572768" cy="1691640"/>
          </a:xfrm>
          <a:prstGeom prst="rect">
            <a:avLst/>
          </a:prstGeom>
          <a:solidFill>
            <a:srgbClr val="FBF7EE"/>
          </a:solidFill>
          <a:ln w="9525">
            <a:solidFill>
              <a:srgbClr val="D9CFB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159752" y="3017520"/>
            <a:ext cx="1572768" cy="91440"/>
          </a:xfrm>
          <a:prstGeom prst="rect">
            <a:avLst/>
          </a:prstGeom>
          <a:solidFill>
            <a:srgbClr val="C69C49"/>
          </a:solidFill>
          <a:ln w="12700">
            <a:solidFill>
              <a:srgbClr val="C69C4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251192" y="3154680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i="1" dirty="0">
                <a:solidFill>
                  <a:srgbClr val="C69C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600" dirty="0"/>
          </a:p>
        </p:txBody>
      </p:sp>
      <p:sp>
        <p:nvSpPr>
          <p:cNvPr id="55" name="Text 53"/>
          <p:cNvSpPr/>
          <p:nvPr/>
        </p:nvSpPr>
        <p:spPr>
          <a:xfrm>
            <a:off x="7269480" y="32186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8A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SPRINT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7269480" y="3694176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475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MAY 15 – MAY 18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7269480" y="3913632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prep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7269480" y="4315968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audit, README, transcript export, slides — today's the demo.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0" cy="0"/>
          </a:xfrm>
          <a:prstGeom prst="line">
            <a:avLst/>
          </a:prstGeom>
          <a:noFill/>
          <a:ln w="9525">
            <a:solidFill>
              <a:srgbClr val="D9CFB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201168" cy="201168"/>
          </a:xfrm>
          <a:prstGeom prst="rect">
            <a:avLst/>
          </a:prstGeom>
          <a:solidFill>
            <a:srgbClr val="13386E"/>
          </a:solidFill>
          <a:ln w="12700">
            <a:solidFill>
              <a:srgbClr val="1338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69C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FC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" y="1828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47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FutureCode  ·  Student Information System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0" y="1828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8E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9525">
            <a:solidFill>
              <a:srgbClr val="D9CFB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0" y="48920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A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48920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Hackrizen Hackathon · 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7315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8E1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layers, separated cleanly.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57200" y="1783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0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layer is one folder, one responsibility. The UI never reaches into data, and data never knows about the screen.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2331720"/>
            <a:ext cx="8138160" cy="384048"/>
          </a:xfrm>
          <a:prstGeom prst="rect">
            <a:avLst/>
          </a:prstGeom>
          <a:solidFill>
            <a:srgbClr val="FBF7EE"/>
          </a:solidFill>
          <a:ln w="6350">
            <a:solidFill>
              <a:srgbClr val="D9CFB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2331720"/>
            <a:ext cx="91440" cy="384048"/>
          </a:xfrm>
          <a:prstGeom prst="rect">
            <a:avLst/>
          </a:prstGeom>
          <a:solidFill>
            <a:srgbClr val="13386E"/>
          </a:solidFill>
          <a:ln w="12700">
            <a:solidFill>
              <a:srgbClr val="1338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33172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i="1" dirty="0">
                <a:solidFill>
                  <a:srgbClr val="1338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23317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 Shell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83280" y="233172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Top-level controller, screen routing, transitions, header widgets.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2752344"/>
            <a:ext cx="8138160" cy="384048"/>
          </a:xfrm>
          <a:prstGeom prst="rect">
            <a:avLst/>
          </a:prstGeom>
          <a:solidFill>
            <a:srgbClr val="FBF7EE"/>
          </a:solidFill>
          <a:ln w="6350">
            <a:solidFill>
              <a:srgbClr val="D9CFB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2752344"/>
            <a:ext cx="91440" cy="384048"/>
          </a:xfrm>
          <a:prstGeom prst="rect">
            <a:avLst/>
          </a:prstGeom>
          <a:solidFill>
            <a:srgbClr val="13386E"/>
          </a:solidFill>
          <a:ln w="12700">
            <a:solidFill>
              <a:srgbClr val="1338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275234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i="1" dirty="0">
                <a:solidFill>
                  <a:srgbClr val="1338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80160" y="275234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Screens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383280" y="2752344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six-tab student dashboard, teacher dashboard, statistics.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3172968"/>
            <a:ext cx="8138160" cy="384048"/>
          </a:xfrm>
          <a:prstGeom prst="rect">
            <a:avLst/>
          </a:prstGeom>
          <a:solidFill>
            <a:srgbClr val="FBF7EE"/>
          </a:solidFill>
          <a:ln w="6350">
            <a:solidFill>
              <a:srgbClr val="D9CFB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3172968"/>
            <a:ext cx="91440" cy="384048"/>
          </a:xfrm>
          <a:prstGeom prst="rect">
            <a:avLst/>
          </a:prstGeom>
          <a:solidFill>
            <a:srgbClr val="8E1F2D"/>
          </a:solidFill>
          <a:ln w="12700">
            <a:solidFill>
              <a:srgbClr val="8E1F2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317296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i="1" dirty="0">
                <a:solidFill>
                  <a:srgbClr val="8E1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80160" y="317296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UI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383280" y="317296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Buttons, charts, mini calendar, vector icons, university crest.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02920" y="3593592"/>
            <a:ext cx="8138160" cy="384048"/>
          </a:xfrm>
          <a:prstGeom prst="rect">
            <a:avLst/>
          </a:prstGeom>
          <a:solidFill>
            <a:srgbClr val="FBF7EE"/>
          </a:solidFill>
          <a:ln w="6350">
            <a:solidFill>
              <a:srgbClr val="D9CFB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3593592"/>
            <a:ext cx="91440" cy="384048"/>
          </a:xfrm>
          <a:prstGeom prst="rect">
            <a:avLst/>
          </a:prstGeom>
          <a:solidFill>
            <a:srgbClr val="8E1F2D"/>
          </a:solidFill>
          <a:ln w="12700">
            <a:solidFill>
              <a:srgbClr val="8E1F2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359359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i="1" dirty="0">
                <a:solidFill>
                  <a:srgbClr val="8E1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280160" y="359359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Theme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383280" y="359359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Palette, fonts, light + dark mode, Cyrillic glyph loading.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02920" y="4014216"/>
            <a:ext cx="8138160" cy="384048"/>
          </a:xfrm>
          <a:prstGeom prst="rect">
            <a:avLst/>
          </a:prstGeom>
          <a:solidFill>
            <a:srgbClr val="FBF7EE"/>
          </a:solidFill>
          <a:ln w="6350">
            <a:solidFill>
              <a:srgbClr val="D9CFB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2920" y="4014216"/>
            <a:ext cx="91440" cy="384048"/>
          </a:xfrm>
          <a:prstGeom prst="rect">
            <a:avLst/>
          </a:prstGeom>
          <a:solidFill>
            <a:srgbClr val="C69C49"/>
          </a:solidFill>
          <a:ln w="12700">
            <a:solidFill>
              <a:srgbClr val="C69C4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1520" y="401421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i="1" dirty="0">
                <a:solidFill>
                  <a:srgbClr val="C69C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280160" y="401421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Store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383280" y="4014216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Persistence, seed data, schema migration with .bak fallback.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02920" y="4434840"/>
            <a:ext cx="8138160" cy="384048"/>
          </a:xfrm>
          <a:prstGeom prst="rect">
            <a:avLst/>
          </a:prstGeom>
          <a:solidFill>
            <a:srgbClr val="FBF7EE"/>
          </a:solidFill>
          <a:ln w="6350">
            <a:solidFill>
              <a:srgbClr val="D9CFB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02920" y="4434840"/>
            <a:ext cx="91440" cy="384048"/>
          </a:xfrm>
          <a:prstGeom prst="rect">
            <a:avLst/>
          </a:prstGeom>
          <a:solidFill>
            <a:srgbClr val="C69C49"/>
          </a:solidFill>
          <a:ln w="12700">
            <a:solidFill>
              <a:srgbClr val="C69C4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1520" y="44348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i="1" dirty="0">
                <a:solidFill>
                  <a:srgbClr val="C69C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280160" y="44348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Models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3383280" y="443484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User, Subject, Grade types and statistical helpers.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0" cy="0"/>
          </a:xfrm>
          <a:prstGeom prst="line">
            <a:avLst/>
          </a:prstGeom>
          <a:noFill/>
          <a:ln w="9525">
            <a:solidFill>
              <a:srgbClr val="D9CFB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201168" cy="201168"/>
          </a:xfrm>
          <a:prstGeom prst="rect">
            <a:avLst/>
          </a:prstGeom>
          <a:solidFill>
            <a:srgbClr val="13386E"/>
          </a:solidFill>
          <a:ln w="12700">
            <a:solidFill>
              <a:srgbClr val="1338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69C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FC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" y="1828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47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FutureCode  ·  Student Information System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0" y="1828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8E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9525">
            <a:solidFill>
              <a:srgbClr val="D9CFB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0" y="48920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A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48920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Hackrizen Hackathon · 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7315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8E1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actually does.</a:t>
            </a:r>
            <a:endParaRPr lang="en-US" sz="3200" dirty="0"/>
          </a:p>
        </p:txBody>
      </p:sp>
      <p:sp>
        <p:nvSpPr>
          <p:cNvPr id="12" name="Shape 10"/>
          <p:cNvSpPr/>
          <p:nvPr/>
        </p:nvSpPr>
        <p:spPr>
          <a:xfrm>
            <a:off x="502920" y="1920240"/>
            <a:ext cx="2670048" cy="1280160"/>
          </a:xfrm>
          <a:prstGeom prst="rect">
            <a:avLst/>
          </a:prstGeom>
          <a:solidFill>
            <a:srgbClr val="FBF7EE"/>
          </a:solidFill>
          <a:ln w="6350">
            <a:solidFill>
              <a:srgbClr val="D9CFB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1920240"/>
            <a:ext cx="73152" cy="1280160"/>
          </a:xfrm>
          <a:prstGeom prst="rect">
            <a:avLst/>
          </a:prstGeom>
          <a:solidFill>
            <a:srgbClr val="13386E"/>
          </a:solidFill>
          <a:ln w="12700">
            <a:solidFill>
              <a:srgbClr val="1338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0574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338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" y="2304288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Animated GPA tile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85800" y="2697480"/>
            <a:ext cx="2350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 rolls from zero to current average. Sparkline + trend arrow on every render.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64408" y="1920240"/>
            <a:ext cx="2670048" cy="1280160"/>
          </a:xfrm>
          <a:prstGeom prst="rect">
            <a:avLst/>
          </a:prstGeom>
          <a:solidFill>
            <a:srgbClr val="FBF7EE"/>
          </a:solidFill>
          <a:ln w="6350">
            <a:solidFill>
              <a:srgbClr val="D9CFB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64408" y="1920240"/>
            <a:ext cx="73152" cy="1280160"/>
          </a:xfrm>
          <a:prstGeom prst="rect">
            <a:avLst/>
          </a:prstGeom>
          <a:solidFill>
            <a:srgbClr val="8E1F2D"/>
          </a:solidFill>
          <a:ln w="12700">
            <a:solidFill>
              <a:srgbClr val="8E1F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47288" y="20574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E1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47288" y="2304288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schedule grid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447288" y="2697480"/>
            <a:ext cx="2350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Mon–Fri 8:00–18:00 with a red line tracking the current minute in real time.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025896" y="1920240"/>
            <a:ext cx="2670048" cy="1280160"/>
          </a:xfrm>
          <a:prstGeom prst="rect">
            <a:avLst/>
          </a:prstGeom>
          <a:solidFill>
            <a:srgbClr val="FBF7EE"/>
          </a:solidFill>
          <a:ln w="6350">
            <a:solidFill>
              <a:srgbClr val="D9CFB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25896" y="1920240"/>
            <a:ext cx="73152" cy="1280160"/>
          </a:xfrm>
          <a:prstGeom prst="rect">
            <a:avLst/>
          </a:prstGeom>
          <a:solidFill>
            <a:srgbClr val="5C7B5E"/>
          </a:solidFill>
          <a:ln w="12700">
            <a:solidFill>
              <a:srgbClr val="5C7B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08776" y="20574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C7B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08776" y="2304288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Bilingual UI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208776" y="2697480"/>
            <a:ext cx="2350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string flows through I18n::T() — switch BG / EN with a single click.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920" y="3291840"/>
            <a:ext cx="2670048" cy="1280160"/>
          </a:xfrm>
          <a:prstGeom prst="rect">
            <a:avLst/>
          </a:prstGeom>
          <a:solidFill>
            <a:srgbClr val="FBF7EE"/>
          </a:solidFill>
          <a:ln w="6350">
            <a:solidFill>
              <a:srgbClr val="D9CFB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" y="3291840"/>
            <a:ext cx="73152" cy="1280160"/>
          </a:xfrm>
          <a:prstGeom prst="rect">
            <a:avLst/>
          </a:prstGeom>
          <a:solidFill>
            <a:srgbClr val="C69C49"/>
          </a:solidFill>
          <a:ln w="12700">
            <a:solidFill>
              <a:srgbClr val="C69C4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34290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69C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5800" y="3675888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schedule editor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85800" y="4069080"/>
            <a:ext cx="2350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with chip pickers for subject, day, type, time. Validates HH:MM input.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64408" y="3291840"/>
            <a:ext cx="2670048" cy="1280160"/>
          </a:xfrm>
          <a:prstGeom prst="rect">
            <a:avLst/>
          </a:prstGeom>
          <a:solidFill>
            <a:srgbClr val="FBF7EE"/>
          </a:solidFill>
          <a:ln w="6350">
            <a:solidFill>
              <a:srgbClr val="D9CFB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64408" y="3291840"/>
            <a:ext cx="73152" cy="1280160"/>
          </a:xfrm>
          <a:prstGeom prst="rect">
            <a:avLst/>
          </a:prstGeom>
          <a:solidFill>
            <a:srgbClr val="B65E2E"/>
          </a:solidFill>
          <a:ln w="12700">
            <a:solidFill>
              <a:srgbClr val="B65E2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47288" y="34290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65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447288" y="3675888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Vector icons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3447288" y="4069080"/>
            <a:ext cx="2350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Crest, check, bell, calendar — all drawn from primitives. Crisp at any zoom.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025896" y="3291840"/>
            <a:ext cx="2670048" cy="1280160"/>
          </a:xfrm>
          <a:prstGeom prst="rect">
            <a:avLst/>
          </a:prstGeom>
          <a:solidFill>
            <a:srgbClr val="FBF7EE"/>
          </a:solidFill>
          <a:ln w="6350">
            <a:solidFill>
              <a:srgbClr val="D9CFB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025896" y="3291840"/>
            <a:ext cx="73152" cy="1280160"/>
          </a:xfrm>
          <a:prstGeom prst="rect">
            <a:avLst/>
          </a:prstGeom>
          <a:solidFill>
            <a:srgbClr val="13386E"/>
          </a:solidFill>
          <a:ln w="12700">
            <a:solidFill>
              <a:srgbClr val="13386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08776" y="34290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338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208776" y="3675888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Transcript export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6208776" y="4069080"/>
            <a:ext cx="2350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Ctrl+E writes a formatted academic transcript to a plain-text file.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0" cy="0"/>
          </a:xfrm>
          <a:prstGeom prst="line">
            <a:avLst/>
          </a:prstGeom>
          <a:noFill/>
          <a:ln w="9525">
            <a:solidFill>
              <a:srgbClr val="D9CFB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201168" cy="201168"/>
          </a:xfrm>
          <a:prstGeom prst="rect">
            <a:avLst/>
          </a:prstGeom>
          <a:solidFill>
            <a:srgbClr val="13386E"/>
          </a:solidFill>
          <a:ln w="12700">
            <a:solidFill>
              <a:srgbClr val="1338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69C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FC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" y="1828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47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FutureCode  ·  Student Information System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0" y="1828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8E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9525">
            <a:solidFill>
              <a:srgbClr val="D9CFB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0" y="48920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A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48920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Hackrizen Hackathon · 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7315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8E1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small, deliberate stack.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57200" y="1783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0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dependency earns its place. No JSON library, no UI framework, no database — just C++17, raylib, and a hand-written persistence file.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2423160"/>
            <a:ext cx="4069080" cy="1280160"/>
          </a:xfrm>
          <a:prstGeom prst="rect">
            <a:avLst/>
          </a:prstGeom>
          <a:solidFill>
            <a:srgbClr val="FBF7EE"/>
          </a:solidFill>
          <a:ln w="9525">
            <a:solidFill>
              <a:srgbClr val="D9CFB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2697480"/>
            <a:ext cx="1005840" cy="1005840"/>
          </a:xfrm>
          <a:prstGeom prst="rect">
            <a:avLst/>
          </a:prstGeom>
          <a:solidFill>
            <a:srgbClr val="E1E7F1"/>
          </a:solidFill>
          <a:ln w="12700">
            <a:solidFill>
              <a:srgbClr val="1338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6974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1338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C++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920240" y="271576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C++17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920240" y="32004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475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 language · modern stdlib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17720" y="2423160"/>
            <a:ext cx="4069080" cy="1280160"/>
          </a:xfrm>
          <a:prstGeom prst="rect">
            <a:avLst/>
          </a:prstGeom>
          <a:solidFill>
            <a:srgbClr val="FBF7EE"/>
          </a:solidFill>
          <a:ln w="9525">
            <a:solidFill>
              <a:srgbClr val="D9CFB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2697480"/>
            <a:ext cx="1005840" cy="1005840"/>
          </a:xfrm>
          <a:prstGeom prst="rect">
            <a:avLst/>
          </a:prstGeom>
          <a:solidFill>
            <a:srgbClr val="F2DEDF"/>
          </a:solidFill>
          <a:ln w="12700">
            <a:solidFill>
              <a:srgbClr val="8E1F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26974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8E1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RL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035040" y="271576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raylib 5.5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035040" y="32004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475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graphics · input · audio · fonts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3794760"/>
            <a:ext cx="4069080" cy="1280160"/>
          </a:xfrm>
          <a:prstGeom prst="rect">
            <a:avLst/>
          </a:prstGeom>
          <a:solidFill>
            <a:srgbClr val="FBF7EE"/>
          </a:solidFill>
          <a:ln w="9525">
            <a:solidFill>
              <a:srgbClr val="D9CFB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4069080"/>
            <a:ext cx="1005840" cy="1005840"/>
          </a:xfrm>
          <a:prstGeom prst="rect">
            <a:avLst/>
          </a:prstGeom>
          <a:solidFill>
            <a:srgbClr val="F4E6BD"/>
          </a:solidFill>
          <a:ln w="12700">
            <a:solidFill>
              <a:srgbClr val="C69C4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40690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C69C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920240" y="408736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 + Make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920240" y="45720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475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cross-platform build · semantic commits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17720" y="3794760"/>
            <a:ext cx="4069080" cy="1280160"/>
          </a:xfrm>
          <a:prstGeom prst="rect">
            <a:avLst/>
          </a:prstGeom>
          <a:solidFill>
            <a:srgbClr val="FBF7EE"/>
          </a:solidFill>
          <a:ln w="9525">
            <a:solidFill>
              <a:srgbClr val="D9CFB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46320" y="4069080"/>
            <a:ext cx="1005840" cy="1005840"/>
          </a:xfrm>
          <a:prstGeom prst="rect">
            <a:avLst/>
          </a:prstGeom>
          <a:solidFill>
            <a:srgbClr val="DCE6D9"/>
          </a:solidFill>
          <a:ln w="12700">
            <a:solidFill>
              <a:srgbClr val="5C7B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40690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5C7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i18n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035040" y="408736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i18n + UTF-8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35040" y="45720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475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Bulgarian default · English toggle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0" cy="0"/>
          </a:xfrm>
          <a:prstGeom prst="line">
            <a:avLst/>
          </a:prstGeom>
          <a:noFill/>
          <a:ln w="9525">
            <a:solidFill>
              <a:srgbClr val="D9CFB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201168" cy="201168"/>
          </a:xfrm>
          <a:prstGeom prst="rect">
            <a:avLst/>
          </a:prstGeom>
          <a:solidFill>
            <a:srgbClr val="13386E"/>
          </a:solidFill>
          <a:ln w="12700">
            <a:solidFill>
              <a:srgbClr val="1338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69C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FC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" y="1828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47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FutureCode  ·  Student Information System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0" y="1828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8E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NUMBERS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9525">
            <a:solidFill>
              <a:srgbClr val="D9CFB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0" y="48920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A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48920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Hackrizen Hackathon · 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7315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8E1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in five weeks.</a:t>
            </a:r>
            <a:endParaRPr lang="en-US" sz="3200" dirty="0"/>
          </a:p>
        </p:txBody>
      </p:sp>
      <p:sp>
        <p:nvSpPr>
          <p:cNvPr id="12" name="Shape 10"/>
          <p:cNvSpPr/>
          <p:nvPr/>
        </p:nvSpPr>
        <p:spPr>
          <a:xfrm>
            <a:off x="502920" y="2011680"/>
            <a:ext cx="1965960" cy="1554480"/>
          </a:xfrm>
          <a:prstGeom prst="rect">
            <a:avLst/>
          </a:prstGeom>
          <a:solidFill>
            <a:srgbClr val="FBF7EE"/>
          </a:solidFill>
          <a:ln w="6350">
            <a:solidFill>
              <a:srgbClr val="D9CFB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2011680"/>
            <a:ext cx="1965960" cy="73152"/>
          </a:xfrm>
          <a:prstGeom prst="rect">
            <a:avLst/>
          </a:prstGeom>
          <a:solidFill>
            <a:srgbClr val="13386E"/>
          </a:solidFill>
          <a:ln w="12700">
            <a:solidFill>
              <a:srgbClr val="1338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19456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LINES OF CODE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40080" y="246888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1338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7,900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40080" y="31546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25 source files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560320" y="2011680"/>
            <a:ext cx="1965960" cy="1554480"/>
          </a:xfrm>
          <a:prstGeom prst="rect">
            <a:avLst/>
          </a:prstGeom>
          <a:solidFill>
            <a:srgbClr val="FBF7EE"/>
          </a:solidFill>
          <a:ln w="6350">
            <a:solidFill>
              <a:srgbClr val="D9CFB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60320" y="2011680"/>
            <a:ext cx="1965960" cy="73152"/>
          </a:xfrm>
          <a:prstGeom prst="rect">
            <a:avLst/>
          </a:prstGeom>
          <a:solidFill>
            <a:srgbClr val="8E1F2D"/>
          </a:solidFill>
          <a:ln w="12700">
            <a:solidFill>
              <a:srgbClr val="8E1F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97480" y="219456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FILES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697480" y="246888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8E1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2697480" y="31546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C++17 headers + impls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17720" y="2011680"/>
            <a:ext cx="1965960" cy="1554480"/>
          </a:xfrm>
          <a:prstGeom prst="rect">
            <a:avLst/>
          </a:prstGeom>
          <a:solidFill>
            <a:srgbClr val="FBF7EE"/>
          </a:solidFill>
          <a:ln w="6350">
            <a:solidFill>
              <a:srgbClr val="D9CFB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17720" y="2011680"/>
            <a:ext cx="1965960" cy="73152"/>
          </a:xfrm>
          <a:prstGeom prst="rect">
            <a:avLst/>
          </a:prstGeom>
          <a:solidFill>
            <a:srgbClr val="C69C49"/>
          </a:solidFill>
          <a:ln w="12700">
            <a:solidFill>
              <a:srgbClr val="C69C4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219456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754880" y="246888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C69C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4754880" y="31546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 one window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675120" y="2011680"/>
            <a:ext cx="1965960" cy="1554480"/>
          </a:xfrm>
          <a:prstGeom prst="rect">
            <a:avLst/>
          </a:prstGeom>
          <a:solidFill>
            <a:srgbClr val="FBF7EE"/>
          </a:solidFill>
          <a:ln w="6350">
            <a:solidFill>
              <a:srgbClr val="D9CFB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75120" y="2011680"/>
            <a:ext cx="1965960" cy="73152"/>
          </a:xfrm>
          <a:prstGeom prst="rect">
            <a:avLst/>
          </a:prstGeom>
          <a:solidFill>
            <a:srgbClr val="5C7B5E"/>
          </a:solidFill>
          <a:ln w="12700">
            <a:solidFill>
              <a:srgbClr val="5C7B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12280" y="219456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FRAMES / SECOND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812280" y="246888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5C7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6812280" y="31546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raylib hardware accelerated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02920" y="3703320"/>
            <a:ext cx="8229600" cy="1005840"/>
          </a:xfrm>
          <a:prstGeom prst="rect">
            <a:avLst/>
          </a:prstGeom>
          <a:solidFill>
            <a:srgbClr val="FBF7EE"/>
          </a:solidFill>
          <a:ln w="6350">
            <a:solidFill>
              <a:srgbClr val="D9CFB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38221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TIMELINE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40080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Apr 17 → May 18, 2026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40080" y="4389120"/>
            <a:ext cx="5943600" cy="164592"/>
          </a:xfrm>
          <a:prstGeom prst="rect">
            <a:avLst/>
          </a:prstGeom>
          <a:solidFill>
            <a:srgbClr val="E1E7F1"/>
          </a:solidFill>
          <a:ln w="12700">
            <a:solidFill>
              <a:srgbClr val="E1E7F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0080" y="4389120"/>
            <a:ext cx="1161288" cy="164592"/>
          </a:xfrm>
          <a:prstGeom prst="rect">
            <a:avLst/>
          </a:prstGeom>
          <a:solidFill>
            <a:srgbClr val="13386E"/>
          </a:solidFill>
          <a:ln w="12700">
            <a:solidFill>
              <a:srgbClr val="13386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828800" y="4389120"/>
            <a:ext cx="1161288" cy="164592"/>
          </a:xfrm>
          <a:prstGeom prst="rect">
            <a:avLst/>
          </a:prstGeom>
          <a:solidFill>
            <a:srgbClr val="5C7B5E"/>
          </a:solidFill>
          <a:ln w="12700">
            <a:solidFill>
              <a:srgbClr val="5C7B5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017520" y="4389120"/>
            <a:ext cx="1161288" cy="164592"/>
          </a:xfrm>
          <a:prstGeom prst="rect">
            <a:avLst/>
          </a:prstGeom>
          <a:solidFill>
            <a:srgbClr val="8E1F2D"/>
          </a:solidFill>
          <a:ln w="12700">
            <a:solidFill>
              <a:srgbClr val="8E1F2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206240" y="4389120"/>
            <a:ext cx="1161288" cy="164592"/>
          </a:xfrm>
          <a:prstGeom prst="rect">
            <a:avLst/>
          </a:prstGeom>
          <a:solidFill>
            <a:srgbClr val="B65E2E"/>
          </a:solidFill>
          <a:ln w="12700">
            <a:solidFill>
              <a:srgbClr val="B65E2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394960" y="4389120"/>
            <a:ext cx="1161288" cy="164592"/>
          </a:xfrm>
          <a:prstGeom prst="rect">
            <a:avLst/>
          </a:prstGeom>
          <a:solidFill>
            <a:srgbClr val="C69C49"/>
          </a:solidFill>
          <a:ln w="12700">
            <a:solidFill>
              <a:srgbClr val="C69C4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75120" y="43708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100%  ·  5 / 5 sprints  ·  shipped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0" cy="0"/>
          </a:xfrm>
          <a:prstGeom prst="line">
            <a:avLst/>
          </a:prstGeom>
          <a:noFill/>
          <a:ln w="9525">
            <a:solidFill>
              <a:srgbClr val="D9CFB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201168" cy="201168"/>
          </a:xfrm>
          <a:prstGeom prst="rect">
            <a:avLst/>
          </a:prstGeom>
          <a:solidFill>
            <a:srgbClr val="13386E"/>
          </a:solidFill>
          <a:ln w="12700">
            <a:solidFill>
              <a:srgbClr val="1338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69C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FC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" y="1828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47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FutureCode  ·  Student Information System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0" y="1828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8E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YOURSELF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9525">
            <a:solidFill>
              <a:srgbClr val="D9CFB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0" y="48920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A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48920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Hackrizen Hackathon · 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7315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8E1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Try it yourself.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57200" y="1783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0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demo accounts ready, sample data seeded on first launch.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2331720"/>
            <a:ext cx="4069080" cy="1920240"/>
          </a:xfrm>
          <a:prstGeom prst="rect">
            <a:avLst/>
          </a:prstGeom>
          <a:solidFill>
            <a:srgbClr val="FBF7EE"/>
          </a:solidFill>
          <a:ln w="9525">
            <a:solidFill>
              <a:srgbClr val="D9CFB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2331720"/>
            <a:ext cx="91440" cy="1920240"/>
          </a:xfrm>
          <a:prstGeom prst="rect">
            <a:avLst/>
          </a:prstGeom>
          <a:solidFill>
            <a:srgbClr val="13386E"/>
          </a:solidFill>
          <a:ln w="12700">
            <a:solidFill>
              <a:srgbClr val="1338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4688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338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1520" y="26974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Denis Paspalov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31520" y="32004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8A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Faculty №   </a:t>
            </a:r>
            <a:pPr indent="0" marL="0">
              <a:buNone/>
            </a:pPr>
            <a:r>
              <a:rPr lang="en-US" sz="1100" b="1" spc="100" kern="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F23001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3474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8A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    </a:t>
            </a:r>
            <a:pPr indent="0" marL="0">
              <a:buNone/>
            </a:pPr>
            <a:r>
              <a:rPr lang="en-US" sz="1100" b="1" spc="100" kern="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3749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8A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     </a:t>
            </a:r>
            <a:pPr indent="0" marL="0">
              <a:buNone/>
            </a:pPr>
            <a:r>
              <a:rPr lang="en-US" sz="1100" b="1" spc="100" kern="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Информатика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17720" y="2331720"/>
            <a:ext cx="4069080" cy="1920240"/>
          </a:xfrm>
          <a:prstGeom prst="rect">
            <a:avLst/>
          </a:prstGeom>
          <a:solidFill>
            <a:srgbClr val="FBF7EE"/>
          </a:solidFill>
          <a:ln w="9525">
            <a:solidFill>
              <a:srgbClr val="D9CFB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17720" y="2331720"/>
            <a:ext cx="91440" cy="1920240"/>
          </a:xfrm>
          <a:prstGeom prst="rect">
            <a:avLst/>
          </a:prstGeom>
          <a:solidFill>
            <a:srgbClr val="8E1F2D"/>
          </a:solidFill>
          <a:ln w="12700">
            <a:solidFill>
              <a:srgbClr val="8E1F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468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E1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TEACHER · ADMIN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46320" y="26974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Yanko Yanakiev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846320" y="32004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8A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       </a:t>
            </a:r>
            <a:pPr indent="0" marL="0">
              <a:buNone/>
            </a:pPr>
            <a:r>
              <a:rPr lang="en-US" sz="1100" b="1" spc="100" kern="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46320" y="3474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8A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    </a:t>
            </a:r>
            <a:pPr indent="0" marL="0">
              <a:buNone/>
            </a:pPr>
            <a:r>
              <a:rPr lang="en-US" sz="1100" b="1" spc="100" kern="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3749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8A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Manages     </a:t>
            </a:r>
            <a:pPr indent="0" marL="0">
              <a:buNone/>
            </a:pPr>
            <a:r>
              <a:rPr lang="en-US" sz="1100" b="1" spc="100" kern="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students · 15 subjects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" y="44348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1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make &amp;&amp; ./grademaster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0"/>
          </a:xfrm>
          <a:prstGeom prst="line">
            <a:avLst/>
          </a:prstGeom>
          <a:noFill/>
          <a:ln w="12700">
            <a:solidFill>
              <a:srgbClr val="C69C4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12700">
            <a:solidFill>
              <a:srgbClr val="C69C4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943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600" kern="0" dirty="0">
                <a:solidFill>
                  <a:srgbClr val="C69C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FINIS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i="1" dirty="0">
                <a:solidFill>
                  <a:srgbClr val="C69C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F4EF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Now let's open the app.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114800" y="3520440"/>
            <a:ext cx="914400" cy="0"/>
          </a:xfrm>
          <a:prstGeom prst="line">
            <a:avLst/>
          </a:prstGeom>
          <a:noFill/>
          <a:ln w="12700">
            <a:solidFill>
              <a:srgbClr val="C69C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4EF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YANKO YANAKIEV  ·  DENIS PASPALOV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9502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8A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9V  ·  HACKRIZEN HACKATHON 2026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251960" y="4343400"/>
            <a:ext cx="640080" cy="274320"/>
          </a:xfrm>
          <a:prstGeom prst="rect">
            <a:avLst/>
          </a:prstGeom>
          <a:solidFill>
            <a:srgbClr val="0B2447"/>
          </a:solidFill>
          <a:ln w="12700">
            <a:solidFill>
              <a:srgbClr val="C69C4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51960" y="43434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C69C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FC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FutureCode SIS</dc:title>
  <dc:subject>PptxGenJS Presentation</dc:subject>
  <dc:creator>Yanko Yanakiev, Denis Paspalov</dc:creator>
  <cp:lastModifiedBy>Yanko Yanakiev, Denis Paspalov</cp:lastModifiedBy>
  <cp:revision>1</cp:revision>
  <dcterms:created xsi:type="dcterms:W3CDTF">2026-05-19T05:21:50Z</dcterms:created>
  <dcterms:modified xsi:type="dcterms:W3CDTF">2026-05-19T05:21:50Z</dcterms:modified>
</cp:coreProperties>
</file>